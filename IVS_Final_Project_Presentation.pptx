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00:00 · 40 s</a:t>
            </a:r>
          </a:p>
          <a:p/>
          <a:p>
            <a:r>
              <a:t>Good morning. My name is Daniel Fernández, and this is my final project: the</a:t>
            </a:r>
          </a:p>
          <a:p>
            <a:r>
              <a:t>Institutional Valuation System.</a:t>
            </a:r>
          </a:p>
          <a:p/>
          <a:p>
            <a:r>
              <a:t>First, a thank you to Joseph: he saw my post about this app on LinkedIn and let</a:t>
            </a:r>
          </a:p>
          <a:p>
            <a:r>
              <a:t>me bring it in as my final project, so I have been working on it since April.</a:t>
            </a:r>
          </a:p>
          <a:p/>
          <a:p>
            <a:r>
              <a:t>It has two parts. A tool I built to put a value on companies, which I use every</a:t>
            </a:r>
          </a:p>
          <a:p>
            <a:r>
              <a:t>day to run a real portfolio. And a test: I checked whether the scores it gives</a:t>
            </a:r>
          </a:p>
          <a:p>
            <a:r>
              <a:t>out matched what the market did afterwards.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00:40 · 45 s</a:t>
            </a:r>
          </a:p>
          <a:p/>
          <a:p>
            <a:r>
              <a:t>Three things, left to right.</a:t>
            </a:r>
          </a:p>
          <a:p/>
          <a:p>
            <a:r>
              <a:t>The system. A tool that values companies, with a web app around it. Nineteen</a:t>
            </a:r>
          </a:p>
          <a:p>
            <a:r>
              <a:t>Python files on the back end, twenty-three screens and components on the front.</a:t>
            </a:r>
          </a:p>
          <a:p/>
          <a:p>
            <a:r>
              <a:t>The data. The tool looked at 2,305 companies and fully valued 1,437 of them. Those</a:t>
            </a:r>
          </a:p>
          <a:p>
            <a:r>
              <a:t>results became my data set: 1,437 rows and 32 columns. I did not download it from</a:t>
            </a:r>
          </a:p>
          <a:p>
            <a:r>
              <a:t>anywhere.</a:t>
            </a:r>
          </a:p>
          <a:p/>
          <a:p>
            <a:r>
              <a:t>And the test. For each company I wrote down what really happened over the next 18</a:t>
            </a:r>
          </a:p>
          <a:p>
            <a:r>
              <a:t>market days, and then trained models to see if my score could predict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01:25 · 55 s</a:t>
            </a:r>
          </a:p>
          <a:p/>
          <a:p>
            <a:r>
              <a:t>This slide puts the fourteen weeks of the course next to the real files of my</a:t>
            </a:r>
          </a:p>
          <a:p>
            <a:r>
              <a:t>project. I will not read all twelve boxes — there are four groups.</a:t>
            </a:r>
          </a:p>
          <a:p/>
          <a:p>
            <a:r>
              <a:t>In green, the Python basics: classes, NumPy and pandas.</a:t>
            </a:r>
          </a:p>
          <a:p/>
          <a:p>
            <a:r>
              <a:t>In amber, statistics: probability, checking whether a difference is real, and</a:t>
            </a:r>
          </a:p>
          <a:p>
            <a:r>
              <a:t>looking at the data one and two columns at a time.</a:t>
            </a:r>
          </a:p>
          <a:p/>
          <a:p>
            <a:r>
              <a:t>In light green, machine learning: three types of model, and how I measured them.</a:t>
            </a:r>
          </a:p>
          <a:p/>
          <a:p>
            <a:r>
              <a:t>And in red, working with text, and generative AI.</a:t>
            </a:r>
          </a:p>
          <a:p/>
          <a:p>
            <a:r>
              <a:t>The part I do want to point at is the strip at the bottom. There is no deep</a:t>
            </a:r>
          </a:p>
          <a:p>
            <a:r>
              <a:t>learning and no computer vision here. I have no images, and 1,437 rows of a table</a:t>
            </a:r>
          </a:p>
          <a:p>
            <a:r>
              <a:t>do not need a neural network. And instead of Streamlit or Tableau, I built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02:20 · 40 s</a:t>
            </a:r>
          </a:p>
          <a:p/>
          <a:p>
            <a:r>
              <a:t>Four steps to build the data. Yahoo's screener gives me the list: American</a:t>
            </a:r>
          </a:p>
          <a:p>
            <a:r>
              <a:t>companies, small and medium size, from 300 million to 10 billion dollars. That is</a:t>
            </a:r>
          </a:p>
          <a:p>
            <a:r>
              <a:t>2,305 of them. yfinance gives me their accounts and their past prices. My valuation</a:t>
            </a:r>
          </a:p>
          <a:p>
            <a:r>
              <a:t>tool turns that into 32 columns per company.</a:t>
            </a:r>
          </a:p>
          <a:p/>
          <a:p>
            <a:r>
              <a:t>Then the answer column: did each company beat the S&amp;P 500 over the next 18 market</a:t>
            </a:r>
          </a:p>
          <a:p>
            <a:r>
              <a:t>days? Yes for 45 percent, so the two groups are about even.</a:t>
            </a:r>
          </a:p>
          <a:p/>
          <a:p>
            <a:r>
              <a:t>The important part is that the answer comes from prices later than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03:00 · 30 s</a:t>
            </a:r>
          </a:p>
          <a:p/>
          <a:p>
            <a:r>
              <a:t>How I collect it. Yahoo only gives 250 rows per request, so you cannot ask for</a:t>
            </a:r>
          </a:p>
          <a:p>
            <a:r>
              <a:t>everything at once. I ask for a size range, and if it comes back full I cut that</a:t>
            </a:r>
          </a:p>
          <a:p>
            <a:r>
              <a:t>range in two and ask again.</a:t>
            </a:r>
          </a:p>
          <a:p/>
          <a:p>
            <a:r>
              <a:t>The line to notice is where I cut: at the square root, not in the middle. Most</a:t>
            </a:r>
          </a:p>
          <a:p>
            <a:r>
              <a:t>companies are small, so cutting in the middle would leave one half nearly empty.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03:30 · 25 s · [CUT IF LATE]</a:t>
            </a:r>
          </a:p>
          <a:p/>
          <a:p>
            <a:r>
              <a:t>Very quickly, the Monte Carlo. One valuation gives you one number, and it rests on</a:t>
            </a:r>
          </a:p>
          <a:p>
            <a:r>
              <a:t>guesses about growth and the cost of money. So the tool runs ten thousand instead,</a:t>
            </a:r>
          </a:p>
          <a:p>
            <a:r>
              <a:t>picking those guesses at random around my estimate — all ten thousand at once.</a:t>
            </a:r>
          </a:p>
          <a:p/>
          <a:p>
            <a:r>
              <a:t>So the answer is a range, not a 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03:55 · 30 s</a:t>
            </a:r>
          </a:p>
          <a:p/>
          <a:p>
            <a:r>
              <a:t>Missing values, three different fixes. If the answer is missing I delete the row —</a:t>
            </a:r>
          </a:p>
          <a:p>
            <a:r>
              <a:t>you cannot make up the answer.</a:t>
            </a:r>
          </a:p>
          <a:p/>
          <a:p>
            <a:r>
              <a:t>If a risk number is missing, I fill it with the middle value for that company's</a:t>
            </a:r>
          </a:p>
          <a:p>
            <a:r>
              <a:t>sector, not for the whole market: a power company and a biotech are nothing alike.</a:t>
            </a:r>
          </a:p>
          <a:p/>
          <a:p>
            <a:r>
              <a:t>And a missing category becomes "unknown", on purpose — the companies Yahoo cannot</a:t>
            </a:r>
          </a:p>
          <a:p>
            <a:r>
              <a:t>classify tend to be small and obscure.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04:25 · 30 s</a:t>
            </a:r>
          </a:p>
          <a:p/>
          <a:p>
            <a:r>
              <a:t>Outliers. The obvious move here is to delete them, and I did not.</a:t>
            </a:r>
          </a:p>
          <a:p/>
          <a:p>
            <a:r>
              <a:t>With share prices, the extremes are the whole point. A biotech can go up 300</a:t>
            </a:r>
          </a:p>
          <a:p>
            <a:r>
              <a:t>percent in one day if a drug is approved. So I only cut the numbers that cannot</a:t>
            </a:r>
          </a:p>
          <a:p>
            <a:r>
              <a:t>exist — my margin of safety can never be above 100. The returns themselves I leave</a:t>
            </a:r>
          </a:p>
          <a:p>
            <a:r>
              <a:t>exactly as they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04:55 · 25 s</a:t>
            </a:r>
          </a:p>
          <a:p/>
          <a:p>
            <a:r>
              <a:t>Two decisions. Company size goes in as a logarithm, because the jump from 300</a:t>
            </a:r>
          </a:p>
          <a:p>
            <a:r>
              <a:t>million to 1 billion matters more than from 9 to 10 billion.</a:t>
            </a:r>
          </a:p>
          <a:p/>
          <a:p>
            <a:r>
              <a:t>And the categories: the verdict gets numbers in order, sell, hold, buy. But the</a:t>
            </a:r>
          </a:p>
          <a:p>
            <a:r>
              <a:t>sector gets one yes-or-no column each, so the model never thinks one sector is</a:t>
            </a:r>
          </a:p>
          <a:p>
            <a:r>
              <a:t>bigger than another.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05:20 · 40 s</a:t>
            </a:r>
          </a:p>
          <a:p/>
          <a:p>
            <a:r>
              <a:t>This one I do want to stop on, because it is the mistake that would have ruined</a:t>
            </a:r>
          </a:p>
          <a:p>
            <a:r>
              <a:t>the project, and I made it.</a:t>
            </a:r>
          </a:p>
          <a:p/>
          <a:p>
            <a:r>
              <a:t>The first time I trained a model, the score came out suspiciously high. Seven of my</a:t>
            </a:r>
          </a:p>
          <a:p>
            <a:r>
              <a:t>columns were calculated from the answer itself — the future return, for example. If</a:t>
            </a:r>
          </a:p>
          <a:p>
            <a:r>
              <a:t>I leave those in, the model is not predicting anything. It already has the answer</a:t>
            </a:r>
          </a:p>
          <a:p>
            <a:r>
              <a:t>in front of it.</a:t>
            </a:r>
          </a:p>
          <a:p/>
          <a:p>
            <a:r>
              <a:t>So there is a written list, and those columns go out. That takes me from over 60</a:t>
            </a:r>
          </a:p>
          <a:p>
            <a:r>
              <a:t>columns down to 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06:00 · 30 s</a:t>
            </a:r>
          </a:p>
          <a:p/>
          <a:p>
            <a:r>
              <a:t>Before any machine learning, one check. My system already gives verdicts: strong</a:t>
            </a:r>
          </a:p>
          <a:p>
            <a:r>
              <a:t>buy, hold, sell. Do those verdicts actually separate the returns?</a:t>
            </a:r>
          </a:p>
          <a:p/>
          <a:p>
            <a:r>
              <a:t>I used a test that does not assume a bell curve, because a few enormous winners</a:t>
            </a:r>
          </a:p>
          <a:p>
            <a:r>
              <a:t>and losers pull returns around, and the usual test would give me a number I could</a:t>
            </a:r>
          </a:p>
          <a:p>
            <a:r>
              <a:t>not trust.</a:t>
            </a:r>
          </a:p>
          <a:p/>
          <a:p>
            <a:r>
              <a:t>The strong buys did do better, and the difference is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06:30 · 35 s</a:t>
            </a:r>
          </a:p>
          <a:p/>
          <a:p>
            <a:r>
              <a:t>Three types of model: logistic regression, random forest and gradient boosting.</a:t>
            </a:r>
          </a:p>
          <a:p/>
          <a:p>
            <a:r>
              <a:t>Two details. First, the scaling step goes inside the pipeline, so it is redone on</a:t>
            </a:r>
          </a:p>
          <a:p>
            <a:r>
              <a:t>every split. If I scaled everything first, the test data would help set the scale,</a:t>
            </a:r>
          </a:p>
          <a:p>
            <a:r>
              <a:t>and that is cheating.</a:t>
            </a:r>
          </a:p>
          <a:p/>
          <a:p>
            <a:r>
              <a:t>Second, every split keeps the same mix of winners and losers.</a:t>
            </a:r>
          </a:p>
          <a:p/>
          <a:p>
            <a:r>
              <a:t>The three scores: 0.672, 0.675 and 0.688. Very close, which already tells me the</a:t>
            </a:r>
          </a:p>
          <a:p>
            <a:r>
              <a:t>type of model is not what matters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07:05 · 25 s</a:t>
            </a:r>
          </a:p>
          <a:p/>
          <a:p>
            <a:r>
              <a:t>Then I tuned the best one, trying combinations of settings.</a:t>
            </a:r>
          </a:p>
          <a:p/>
          <a:p>
            <a:r>
              <a:t>The measure I chose is ROC-AUC rather than plain accuracy. With a 45-55 split, a</a:t>
            </a:r>
          </a:p>
          <a:p>
            <a:r>
              <a:t>model that always says "no" is right 55 percent of the time and completely useless.</a:t>
            </a:r>
          </a:p>
          <a:p/>
          <a:p>
            <a:r>
              <a:t>And the test data is used once, on the last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07:30 · 45 s</a:t>
            </a:r>
          </a:p>
          <a:p/>
          <a:p>
            <a:r>
              <a:t>The results, on 285 companies the model had never seen.</a:t>
            </a:r>
          </a:p>
          <a:p/>
          <a:p>
            <a:r>
              <a:t>On the left, all the models. Pure guessing gives 0.5. My tuned model gives 0.707.</a:t>
            </a:r>
          </a:p>
          <a:p/>
          <a:p>
            <a:r>
              <a:t>One honest note: the simple logistic regression got 0.722, a little better. I kept</a:t>
            </a:r>
          </a:p>
          <a:p>
            <a:r>
              <a:t>the other one because I chose it before looking at the test data, and swapping</a:t>
            </a:r>
          </a:p>
          <a:p>
            <a:r>
              <a:t>afterwards is exactly what you are not supposed to do.</a:t>
            </a:r>
          </a:p>
          <a:p/>
          <a:p>
            <a:r>
              <a:t>The chart on the right matters more to me. I split the companies into five groups</a:t>
            </a:r>
          </a:p>
          <a:p>
            <a:r>
              <a:t>by score, and the order holds: the bottom group lost 3.7 percent against the</a:t>
            </a:r>
          </a:p>
          <a:p>
            <a:r>
              <a:t>index, and the top group gained 1.9.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08:15 · 55 s</a:t>
            </a:r>
          </a:p>
          <a:p/>
          <a:p>
            <a:r>
              <a:t>This was the hardest part of the project, and the part I am most sure about.</a:t>
            </a:r>
          </a:p>
          <a:p/>
          <a:p>
            <a:r>
              <a:t>I had 0.688 and I was happy with it. But a score does not tell you where it comes</a:t>
            </a:r>
          </a:p>
          <a:p>
            <a:r>
              <a:t>from. So I trained the same model again and again, each time with only one group of</a:t>
            </a:r>
          </a:p>
          <a:p>
            <a:r>
              <a:t>columns, to see which group was doing the work.</a:t>
            </a:r>
          </a:p>
          <a:p/>
          <a:p>
            <a:r>
              <a:t>Keep only the valuation columns — margin of safety, confidence, verdict,</a:t>
            </a:r>
          </a:p>
          <a:p>
            <a:r>
              <a:t>everything the idea is built on — and it falls to 0.578. Almost a coin toss.</a:t>
            </a:r>
          </a:p>
          <a:p/>
          <a:p>
            <a:r>
              <a:t>Keep only the sector, with no valuation information at all, and I get 0.620. Better</a:t>
            </a:r>
          </a:p>
          <a:p>
            <a:r>
              <a:t>than all of my valuation work.</a:t>
            </a:r>
          </a:p>
          <a:p/>
          <a:p>
            <a:r>
              <a:t>So most of the score is simply which sector a company is in. That is why I use it</a:t>
            </a:r>
          </a:p>
          <a:p>
            <a:r>
              <a:t>to sort candidates, and claim no more than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09:10 · 30 s</a:t>
            </a:r>
          </a:p>
          <a:p/>
          <a:p>
            <a:r>
              <a:t>The generative AI part. My tool writes its own reports — 70 of them, on 35</a:t>
            </a:r>
          </a:p>
          <a:p>
            <a:r>
              <a:t>companies — so I built an assistant that searches them and answers questions.</a:t>
            </a:r>
          </a:p>
          <a:p/>
          <a:p>
            <a:r>
              <a:t>I cut them into 552 pieces and match a question to the pieces that share the most</a:t>
            </a:r>
          </a:p>
          <a:p>
            <a:r>
              <a:t>words with it. The top answer was the right company 36 times out of 36 — an easy</a:t>
            </a:r>
          </a:p>
          <a:p>
            <a:r>
              <a:t>test, because the ticker is almost a unique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09:40 · 35 s</a:t>
            </a:r>
          </a:p>
          <a:p/>
          <a:p>
            <a:r>
              <a:t>The last part is the product, because this is not just a notebook. It is a real</a:t>
            </a:r>
          </a:p>
          <a:p>
            <a:r>
              <a:t>app: the prices on this screen are downloaded when the page loads.</a:t>
            </a:r>
          </a:p>
          <a:p/>
          <a:p>
            <a:r>
              <a:t>This is my actual portfolio. 100,000 euros to start, 11 companies, and the sizes</a:t>
            </a:r>
          </a:p>
          <a:p>
            <a:r>
              <a:t>come from my own ranking. Today it is worth 131,500 euros, up 31.5 percent.</a:t>
            </a:r>
          </a:p>
          <a:p/>
          <a:p>
            <a:r>
              <a:t>And the column on the right recalculates the margin against today's price, so it</a:t>
            </a:r>
          </a:p>
          <a:p>
            <a:r>
              <a:t>tells me what to think about selling.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10:15 · 30 s</a:t>
            </a:r>
          </a:p>
          <a:p/>
          <a:p>
            <a:r>
              <a:t>This is the screener, over the whole universe. Every week it ranks the best and the</a:t>
            </a:r>
          </a:p>
          <a:p>
            <a:r>
              <a:t>worst performers across 2,286 of the 2,305 companies — a job that runs in the</a:t>
            </a:r>
          </a:p>
          <a:p>
            <a:r>
              <a:t>background and downloads them in batches of 150.</a:t>
            </a:r>
          </a:p>
          <a:p/>
          <a:p>
            <a:r>
              <a:t>One detail I like: a week here means five market sessions, not seven days.</a:t>
            </a:r>
          </a:p>
          <a:p>
            <a:r>
              <a:t>Otherwise a public holiday would make the week look flat.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10:45 · 30 s</a:t>
            </a:r>
          </a:p>
          <a:p/>
          <a:p>
            <a:r>
              <a:t>Risk, measured instead of assumed. On the left, how much my companies move</a:t>
            </a:r>
          </a:p>
          <a:p>
            <a:r>
              <a:t>together, over 500 days. The closest pair is 0.49, Dropbox and DocuSign, and they</a:t>
            </a:r>
          </a:p>
          <a:p>
            <a:r>
              <a:t>are both software companies. My warning level is 0.75, so nothing is hidden here.</a:t>
            </a:r>
          </a:p>
          <a:p/>
          <a:p>
            <a:r>
              <a:t>On the right, every company against every day. And the title says how many of the</a:t>
            </a:r>
          </a:p>
          <a:p>
            <a:r>
              <a:t>eleven it actually covers.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11:15 · 35 s</a:t>
            </a:r>
          </a:p>
          <a:p/>
          <a:p>
            <a:r>
              <a:t>My portfolio against the S&amp;P 500. Both start at 100,000, so you can compare them.</a:t>
            </a:r>
          </a:p>
          <a:p>
            <a:r>
              <a:t>Mine is up 31.5 percent, the index 3.2.</a:t>
            </a:r>
          </a:p>
          <a:p/>
          <a:p>
            <a:r>
              <a:t>And I want to be clear about what that is. It is 33 days and eleven companies. It</a:t>
            </a:r>
          </a:p>
          <a:p>
            <a:r>
              <a:t>is the real record of the system, but it is far too short to say that I am good at</a:t>
            </a:r>
          </a:p>
          <a:p>
            <a:r>
              <a:t>this. Part of the gap was already there on the first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11:50 · 25 s · [CUT IF LATE]</a:t>
            </a:r>
          </a:p>
          <a:p/>
          <a:p>
            <a:r>
              <a:t>One feature I like. This rebuilds the portfolio on any past day, and the slider</a:t>
            </a:r>
          </a:p>
          <a:p>
            <a:r>
              <a:t>moves by market days, so it never lands on a Sunday.</a:t>
            </a:r>
          </a:p>
          <a:p/>
          <a:p>
            <a:r>
              <a:t>Building it found a real bug: my cash was being worked out in a way that went</a:t>
            </a:r>
          </a:p>
          <a:p>
            <a:r>
              <a:t>negative once I reinvested profits.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12:15 · 40 s</a:t>
            </a:r>
          </a:p>
          <a:p/>
          <a:p>
            <a:r>
              <a:t>To finish, the three things I would fix first.</a:t>
            </a:r>
          </a:p>
          <a:p/>
          <a:p>
            <a:r>
              <a:t>It is one moment in time: one date, one 18-day window. Companies that have already</a:t>
            </a:r>
          </a:p>
          <a:p>
            <a:r>
              <a:t>disappeared are not on my list. And the sector explains most of the score, so</a:t>
            </a:r>
          </a:p>
          <a:p>
            <a:r>
              <a:t>returns should be compared with companies in the same sector.</a:t>
            </a:r>
          </a:p>
          <a:p/>
          <a:p>
            <a:r>
              <a:t>So the next steps are: repeat all of it on many different dates, compare against</a:t>
            </a:r>
          </a:p>
          <a:p>
            <a:r>
              <a:t>the same sector, and serve the model from the app instead of a notebook.</a:t>
            </a:r>
          </a:p>
          <a:p/>
          <a:p>
            <a:r>
              <a:t>The system works and I use it. The score sorts candidates.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12:55 · Q&amp;A</a:t>
            </a:r>
          </a:p>
          <a:p/>
          <a:p>
            <a:r>
              <a:t>Closing line: "Thank you — I am happy to take questions."</a:t>
            </a:r>
          </a:p>
          <a:p/>
          <a:p>
            <a:r>
              <a:t>PREPARED ANSWERS — plain, short, and only things you can defend.</a:t>
            </a:r>
          </a:p>
          <a:p/>
          <a:p>
            <a:r>
              <a:t>Why not deep learning?</a:t>
            </a:r>
          </a:p>
          <a:p>
            <a:r>
              <a:t>  I have a table with 1,437 rows. A neural network needs much more data, and it</a:t>
            </a:r>
          </a:p>
          <a:p>
            <a:r>
              <a:t>  would just memorise this one. And my ablation says the limit is the data, not the</a:t>
            </a:r>
          </a:p>
          <a:p>
            <a:r>
              <a:t>  model.</a:t>
            </a:r>
          </a:p>
          <a:p/>
          <a:p>
            <a:r>
              <a:t>Why ROC-AUC and not accuracy?</a:t>
            </a:r>
          </a:p>
          <a:p>
            <a:r>
              <a:t>  Because 45 percent of companies beat the market. A model that always says "no" is</a:t>
            </a:r>
          </a:p>
          <a:p>
            <a:r>
              <a:t>  right 55 percent of the time and is worth nothing. ROC-AUC looks at whether the</a:t>
            </a:r>
          </a:p>
          <a:p>
            <a:r>
              <a:t>  ORDER is right, not at one yes-or-no line.</a:t>
            </a:r>
          </a:p>
          <a:p/>
          <a:p>
            <a:r>
              <a:t>Is the plus 31 percent proof that this works?</a:t>
            </a:r>
          </a:p>
          <a:p>
            <a:r>
              <a:t>  No, and I would not claim that. It is 33 days and eleven companies, and part of</a:t>
            </a:r>
          </a:p>
          <a:p>
            <a:r>
              <a:t>  the gap was already there before the window starts.</a:t>
            </a:r>
          </a:p>
          <a:p/>
          <a:p>
            <a:r>
              <a:t>How do you know the model was not cheating?</a:t>
            </a:r>
          </a:p>
          <a:p>
            <a:r>
              <a:t>  Seven columns were calculated from the answer, and I take them out before I split</a:t>
            </a:r>
          </a:p>
          <a:p>
            <a:r>
              <a:t>  the data. The proof is that the score went DOWN to something believable once I did.</a:t>
            </a:r>
          </a:p>
          <a:p/>
          <a:p>
            <a:r>
              <a:t>What would you need to trust the signal?</a:t>
            </a:r>
          </a:p>
          <a:p>
            <a:r>
              <a:t>  Repeat the whole thing on many different dates, and compare each company with</a:t>
            </a:r>
          </a:p>
          <a:p>
            <a:r>
              <a:t>  others in its own sector. That is the honest version of the test.</a:t>
            </a:r>
          </a:p>
          <a:p/>
          <a:p>
            <a:r>
              <a:t>Why SQLite and not a bigger database?</a:t>
            </a:r>
          </a:p>
          <a:p>
            <a:r>
              <a:t>  One user, one portfolio, a few hundred kilobytes. Anything bigger would be extra</a:t>
            </a:r>
          </a:p>
          <a:p>
            <a:r>
              <a:t>  work for no benefit.</a:t>
            </a:r>
          </a:p>
          <a:p/>
          <a:p>
            <a:r>
              <a:t>Why is there no Tableau?</a:t>
            </a:r>
          </a:p>
          <a:p>
            <a:r>
              <a:t>  The dashboards are inside my own app instead. Same analysis, but where I actually</a:t>
            </a:r>
          </a:p>
          <a:p>
            <a:r>
              <a:t>  use it. I know it was part of the course.</a:t>
            </a:r>
          </a:p>
          <a:p/>
          <a:p>
            <a:r>
              <a:t>The top performers screen is dated August — why?</a:t>
            </a:r>
          </a:p>
          <a:p>
            <a:r>
              <a:t>  It is a cached calculation over the whole universe; it takes about two minutes to</a:t>
            </a:r>
          </a:p>
          <a:p>
            <a:r>
              <a:t>  rebuild and I run it when I need it. The date is shown on the panel on purpose.</a:t>
            </a:r>
          </a:p>
          <a:p/>
          <a:p>
            <a:r>
              <a:t>Can you show the app?</a:t>
            </a:r>
          </a:p>
          <a:p>
            <a:r>
              <a:t>  Yes. It runs on my machine, and the screenshots in these slides were taken from it</a:t>
            </a:r>
          </a:p>
          <a:p>
            <a:r>
              <a:t>  today.</a:t>
            </a:r>
          </a:p>
          <a:p/>
          <a:p>
            <a:r>
              <a:t>If you do not know an answer:</a:t>
            </a:r>
          </a:p>
          <a:p>
            <a:r>
              <a:t>  "I did not test that, so I would not want to guess. What I did measure is ..."</a:t>
            </a:r>
          </a:p>
          <a:p>
            <a:r>
              <a:t>  — and go back to the ablation or to the five-group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82296" cy="6858000"/>
          </a:xfrm>
          <a:prstGeom prst="roundRect">
            <a:avLst>
              <a:gd name="adj" fmla="val 6000"/>
            </a:avLst>
          </a:prstGeom>
          <a:solidFill>
            <a:srgbClr val="E8B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874519"/>
            <a:ext cx="108749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4EC9B0"/>
                </a:solidFill>
                <a:latin typeface="Segoe UI"/>
              </a:rPr>
              <a:t>FINAL PROJECT · DATA SCIENCE &amp; MACHINE LEARNING BOOTCAMP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Segoe UI"/>
              </a:rPr>
              <a:t>Institutional Valuation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310128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0" i="0">
                <a:solidFill>
                  <a:srgbClr val="E8B14A"/>
                </a:solidFill>
                <a:latin typeface="Segoe UI"/>
              </a:rPr>
              <a:t>Can an automated fundamental valuation model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0" i="0">
                <a:solidFill>
                  <a:srgbClr val="E8B14A"/>
                </a:solidFill>
                <a:latin typeface="Segoe UI"/>
              </a:rPr>
              <a:t>identify stocks that beat the market?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526280"/>
            <a:ext cx="3291840" cy="32004"/>
          </a:xfrm>
          <a:prstGeom prst="roundRect">
            <a:avLst>
              <a:gd name="adj" fmla="val 6000"/>
            </a:avLst>
          </a:prstGeom>
          <a:solidFill>
            <a:srgbClr val="2A3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8006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 i="0">
                <a:solidFill>
                  <a:srgbClr val="8B949E"/>
                </a:solidFill>
                <a:latin typeface="Segoe UI"/>
              </a:rPr>
              <a:t>Daniel Fernández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 i="0">
                <a:solidFill>
                  <a:srgbClr val="8B949E"/>
                </a:solidFill>
                <a:latin typeface="Segoe UI"/>
              </a:rPr>
              <a:t>2,305 companies screened · 8,487 lines of Python · web app in daily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38251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4A535E"/>
                </a:solidFill>
                <a:latin typeface="Segoe UI"/>
              </a:rPr>
              <a:t>IVS · Institutional Valuation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4EC9B0"/>
                </a:solidFill>
                <a:latin typeface="Segoe UI"/>
              </a:rPr>
              <a:t>01 · WHAT THIS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What I built, and what I checked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8B949E"/>
                </a:solidFill>
                <a:latin typeface="Segoe UI"/>
              </a:rPr>
              <a:t>A valuation system I use every day, and a check of whether its own score lined up with what the market did next.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472586" cy="2057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3472586" cy="54864"/>
          </a:xfrm>
          <a:prstGeom prst="roundRect">
            <a:avLst>
              <a:gd name="adj" fmla="val 6000"/>
            </a:avLst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103120"/>
            <a:ext cx="28873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4EC9B0"/>
                </a:solidFill>
                <a:latin typeface="Segoe UI"/>
              </a:rPr>
              <a:t>THE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542032"/>
            <a:ext cx="288737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00" b="0" i="0">
                <a:solidFill>
                  <a:srgbClr val="D6DDE6"/>
                </a:solidFill>
                <a:latin typeface="Segoe UI"/>
              </a:rPr>
              <a:t>A valuation engine — DCF, CAPM, WACC, Monte Carlo — wrapped in a web app: 19 Python modules, 28 REST endpoints, 23 React components.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9554" y="1828800"/>
            <a:ext cx="3472586" cy="2057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59554" y="1828800"/>
            <a:ext cx="3472586" cy="54864"/>
          </a:xfrm>
          <a:prstGeom prst="roundRect">
            <a:avLst>
              <a:gd name="adj" fmla="val 6000"/>
            </a:avLst>
          </a:prstGeom>
          <a:solidFill>
            <a:srgbClr val="E8B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2162" y="2103120"/>
            <a:ext cx="28873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E8B14A"/>
                </a:solidFill>
                <a:latin typeface="Segoe UI"/>
              </a:rPr>
              <a:t>THE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2162" y="2542032"/>
            <a:ext cx="288737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00" b="0" i="0">
                <a:solidFill>
                  <a:srgbClr val="D6DDE6"/>
                </a:solidFill>
                <a:latin typeface="Segoe UI"/>
              </a:rPr>
              <a:t>The engine screened 2,305 companies and valued 1,437 of them. Its own output became my dataset: 1,437 rows and 32 features.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0740" y="1828800"/>
            <a:ext cx="3472586" cy="2057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60740" y="1828800"/>
            <a:ext cx="3472586" cy="54864"/>
          </a:xfrm>
          <a:prstGeom prst="roundRect">
            <a:avLst>
              <a:gd name="adj" fmla="val 6000"/>
            </a:avLst>
          </a:prstGeom>
          <a:solidFill>
            <a:srgbClr val="6FC2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3348" y="2103120"/>
            <a:ext cx="28873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6FC27E"/>
                </a:solidFill>
                <a:latin typeface="Segoe UI"/>
              </a:rPr>
              <a:t>THE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348" y="2542032"/>
            <a:ext cx="288737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00" b="0" i="0">
                <a:solidFill>
                  <a:srgbClr val="D6DDE6"/>
                </a:solidFill>
                <a:latin typeface="Segoe UI"/>
              </a:rPr>
              <a:t>I then labelled every company with what actually happened over the next 18 trading sessions, and trained models to see whether the score predicted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623560"/>
            <a:ext cx="50292" cy="658368"/>
          </a:xfrm>
          <a:prstGeom prst="rect">
            <a:avLst/>
          </a:prstGeom>
          <a:solidFill>
            <a:srgbClr val="E8B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5605272"/>
            <a:ext cx="10600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D6DDE6"/>
                </a:solidFill>
                <a:latin typeface="Segoe UI"/>
              </a:rPr>
              <a:t>The whole cycle —collecting, cleaning, exploring, modelling and Gen AI— runs on data </a:t>
            </a:r>
            <a:r>
              <a:rPr sz="1500" b="1" i="0">
                <a:solidFill>
                  <a:srgbClr val="E8B14A"/>
                </a:solidFill>
                <a:latin typeface="Segoe UI"/>
              </a:rPr>
              <a:t>I generated myself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, not on a Kaggle CSV.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38251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Segoe U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4A535E"/>
                </a:solidFill>
                <a:latin typeface="Segoe UI"/>
              </a:rPr>
              <a:t>IVS · Institutional Valuation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4EC9B0"/>
                </a:solidFill>
                <a:latin typeface="Segoe UI"/>
              </a:rPr>
              <a:t>02 · CURRICULUM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Every module, and where it lives in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8B949E"/>
                </a:solidFill>
                <a:latin typeface="Segoe UI"/>
              </a:rPr>
              <a:t>The 14 weeks of the bootcamp, mapped onto real files of the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2567863" cy="877824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41148" cy="877824"/>
          </a:xfrm>
          <a:prstGeom prst="roundRect">
            <a:avLst>
              <a:gd name="adj" fmla="val 6000"/>
            </a:avLst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856232"/>
            <a:ext cx="2293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4EC9B0"/>
                </a:solidFill>
                <a:latin typeface="Segoe UI"/>
              </a:rPr>
              <a:t>Python &amp; 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176272"/>
            <a:ext cx="229354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Segoe UI"/>
              </a:rPr>
              <a:t>20+ classes and dataclasses: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Segoe UI"/>
              </a:rPr>
              <a:t>CompanyProfile, PortfolioDatabase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7399" y="1755648"/>
            <a:ext cx="2567863" cy="877824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7399" y="1755648"/>
            <a:ext cx="41148" cy="877824"/>
          </a:xfrm>
          <a:prstGeom prst="roundRect">
            <a:avLst>
              <a:gd name="adj" fmla="val 6000"/>
            </a:avLst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1135" y="1856232"/>
            <a:ext cx="2293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4EC9B0"/>
                </a:solidFill>
                <a:latin typeface="Segoe UI"/>
              </a:rPr>
              <a:t>NumPy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1135" y="2176272"/>
            <a:ext cx="229354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Segoe UI"/>
              </a:rPr>
              <a:t>10,000 valuations computed at once,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Segoe UI"/>
              </a:rPr>
              <a:t>not one by one in a loop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6431" y="1755648"/>
            <a:ext cx="2567863" cy="877824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96431" y="1755648"/>
            <a:ext cx="41148" cy="877824"/>
          </a:xfrm>
          <a:prstGeom prst="roundRect">
            <a:avLst>
              <a:gd name="adj" fmla="val 6000"/>
            </a:avLst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0167" y="1856232"/>
            <a:ext cx="2293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4EC9B0"/>
                </a:solidFill>
                <a:latin typeface="Segoe UI"/>
              </a:rPr>
              <a:t>Pandas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2176272"/>
            <a:ext cx="229354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Segoe UI"/>
              </a:rPr>
              <a:t>The whole cleaning pipeline: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Segoe UI"/>
              </a:rPr>
              <a:t>groupby · merge · concat · corr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5463" y="1755648"/>
            <a:ext cx="2567863" cy="877824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65463" y="1755648"/>
            <a:ext cx="41148" cy="877824"/>
          </a:xfrm>
          <a:prstGeom prst="roundRect">
            <a:avLst>
              <a:gd name="adj" fmla="val 6000"/>
            </a:avLst>
          </a:prstGeom>
          <a:solidFill>
            <a:srgbClr val="E8B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9199" y="1856232"/>
            <a:ext cx="2293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E8B14A"/>
                </a:solidFill>
                <a:latin typeface="Segoe UI"/>
              </a:rPr>
              <a:t>Probability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9199" y="2176272"/>
            <a:ext cx="229354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Segoe UI"/>
              </a:rPr>
              <a:t>Growth and cost of money drawn at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Segoe UI"/>
              </a:rPr>
              <a:t>random — a range, not one price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779776"/>
            <a:ext cx="2567863" cy="877824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2779776"/>
            <a:ext cx="41148" cy="877824"/>
          </a:xfrm>
          <a:prstGeom prst="roundRect">
            <a:avLst>
              <a:gd name="adj" fmla="val 6000"/>
            </a:avLst>
          </a:prstGeom>
          <a:solidFill>
            <a:srgbClr val="E8B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2880360"/>
            <a:ext cx="2293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E8B14A"/>
                </a:solidFill>
                <a:latin typeface="Segoe UI"/>
              </a:rPr>
              <a:t>Hypothesis 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" y="3200400"/>
            <a:ext cx="229354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Segoe UI"/>
              </a:rPr>
              <a:t>Mann-Whitney U on the verdicts: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Segoe UI"/>
              </a:rPr>
              <a:t>p = 0.0031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7399" y="2779776"/>
            <a:ext cx="2567863" cy="877824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27399" y="2779776"/>
            <a:ext cx="41148" cy="877824"/>
          </a:xfrm>
          <a:prstGeom prst="roundRect">
            <a:avLst>
              <a:gd name="adj" fmla="val 6000"/>
            </a:avLst>
          </a:prstGeom>
          <a:solidFill>
            <a:srgbClr val="E8B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01135" y="2880360"/>
            <a:ext cx="2293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E8B14A"/>
                </a:solidFill>
                <a:latin typeface="Segoe UI"/>
              </a:rPr>
              <a:t>EDA · one &amp; two variables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1135" y="3200400"/>
            <a:ext cx="229354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Segoe UI"/>
              </a:rPr>
              <a:t>Notebook 03, plus the live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Segoe UI"/>
              </a:rPr>
              <a:t>correlation matrix in the app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6431" y="2779776"/>
            <a:ext cx="2567863" cy="877824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96431" y="2779776"/>
            <a:ext cx="41148" cy="877824"/>
          </a:xfrm>
          <a:prstGeom prst="roundRect">
            <a:avLst>
              <a:gd name="adj" fmla="val 6000"/>
            </a:avLst>
          </a:prstGeom>
          <a:solidFill>
            <a:srgbClr val="E8B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0167" y="2880360"/>
            <a:ext cx="2293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E8B14A"/>
                </a:solidFill>
                <a:latin typeface="Segoe UI"/>
              </a:rPr>
              <a:t>Visualization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0167" y="3200400"/>
            <a:ext cx="229354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Segoe UI"/>
              </a:rPr>
              <a:t>matplotlib/seaborn in notebooks,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Segoe UI"/>
              </a:rPr>
              <a:t>Recharts in the product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5463" y="2779776"/>
            <a:ext cx="2567863" cy="877824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965463" y="2779776"/>
            <a:ext cx="41148" cy="877824"/>
          </a:xfrm>
          <a:prstGeom prst="roundRect">
            <a:avLst>
              <a:gd name="adj" fmla="val 6000"/>
            </a:avLst>
          </a:prstGeom>
          <a:solidFill>
            <a:srgbClr val="6FC2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39199" y="2880360"/>
            <a:ext cx="2293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6FC27E"/>
                </a:solidFill>
                <a:latin typeface="Segoe UI"/>
              </a:rPr>
              <a:t>Supervised 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39199" y="3200400"/>
            <a:ext cx="229354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Segoe UI"/>
              </a:rPr>
              <a:t>Logistic regression · random forest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Segoe UI"/>
              </a:rPr>
              <a:t>· gradient boosting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3803904"/>
            <a:ext cx="2567863" cy="877824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8368" y="3803904"/>
            <a:ext cx="41148" cy="877824"/>
          </a:xfrm>
          <a:prstGeom prst="roundRect">
            <a:avLst>
              <a:gd name="adj" fmla="val 6000"/>
            </a:avLst>
          </a:prstGeom>
          <a:solidFill>
            <a:srgbClr val="6FC2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" y="3904488"/>
            <a:ext cx="2293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6FC27E"/>
                </a:solidFill>
                <a:latin typeface="Segoe UI"/>
              </a:rPr>
              <a:t>Model evaluation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" y="4224528"/>
            <a:ext cx="229354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Segoe UI"/>
              </a:rPr>
              <a:t>ROC-AUC, confusion matrix,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Segoe UI"/>
              </a:rPr>
              <a:t>precision/recall, grid search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27399" y="3803904"/>
            <a:ext cx="2567863" cy="877824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427399" y="3803904"/>
            <a:ext cx="41148" cy="877824"/>
          </a:xfrm>
          <a:prstGeom prst="roundRect">
            <a:avLst>
              <a:gd name="adj" fmla="val 6000"/>
            </a:avLst>
          </a:prstGeom>
          <a:solidFill>
            <a:srgbClr val="6FC2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1135" y="3904488"/>
            <a:ext cx="2293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6FC27E"/>
                </a:solidFill>
                <a:latin typeface="Segoe UI"/>
              </a:rPr>
              <a:t>Scikit-learn pipelines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01135" y="4224528"/>
            <a:ext cx="229354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Segoe UI"/>
              </a:rPr>
              <a:t>Scaler inside the Pipeline, so test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Segoe UI"/>
              </a:rPr>
              <a:t>data never helps fit it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6431" y="3803904"/>
            <a:ext cx="2567863" cy="877824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196431" y="3803904"/>
            <a:ext cx="41148" cy="877824"/>
          </a:xfrm>
          <a:prstGeom prst="roundRect">
            <a:avLst>
              <a:gd name="adj" fmla="val 6000"/>
            </a:avLst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70167" y="3904488"/>
            <a:ext cx="2293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E06C75"/>
                </a:solidFill>
                <a:latin typeface="Segoe UI"/>
              </a:rPr>
              <a:t>Working with text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70167" y="4224528"/>
            <a:ext cx="229354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Segoe UI"/>
              </a:rPr>
              <a:t>Matches a question to the reports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Segoe UI"/>
              </a:rPr>
              <a:t>by the words they share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65463" y="3803904"/>
            <a:ext cx="2567863" cy="877824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965463" y="3803904"/>
            <a:ext cx="41148" cy="877824"/>
          </a:xfrm>
          <a:prstGeom prst="roundRect">
            <a:avLst>
              <a:gd name="adj" fmla="val 6000"/>
            </a:avLst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39199" y="3904488"/>
            <a:ext cx="2293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E06C75"/>
                </a:solidFill>
                <a:latin typeface="Segoe UI"/>
              </a:rPr>
              <a:t>Gen AI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39199" y="4224528"/>
            <a:ext cx="229354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Segoe UI"/>
              </a:rPr>
              <a:t>Searches my own reports, and the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B949E"/>
                </a:solidFill>
                <a:latin typeface="Segoe UI"/>
              </a:rPr>
              <a:t>prompt forbids inventing figures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8368" y="5074920"/>
            <a:ext cx="10874959" cy="566928"/>
          </a:xfrm>
          <a:prstGeom prst="roundRect">
            <a:avLst>
              <a:gd name="adj" fmla="val 6000"/>
            </a:avLst>
          </a:prstGeom>
          <a:solidFill>
            <a:srgbClr val="12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6968" y="5175504"/>
            <a:ext cx="104177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E8B14A"/>
                </a:solidFill>
                <a:latin typeface="Segoe UI"/>
              </a:rPr>
              <a:t>Deliberately not used:</a:t>
            </a:r>
            <a:r>
              <a:rPr sz="1200" b="0" i="0">
                <a:solidFill>
                  <a:srgbClr val="8B949E"/>
                </a:solidFill>
                <a:latin typeface="Segoe UI"/>
              </a:rPr>
              <a:t> Deep Learning and Computer Vision (no images here — 1,437 × 32 tabular rows do not justify a network) · clustering (left as future work: sector-relative peer groups) · Streamlit and Tableau (replaced by a FastAPI + React app)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11535" y="638251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Segoe UI"/>
              </a:rPr>
              <a:t>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4A535E"/>
                </a:solidFill>
                <a:latin typeface="Segoe UI"/>
              </a:rPr>
              <a:t>IVS · Institutional Valuation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4EC9B0"/>
                </a:solidFill>
                <a:latin typeface="Segoe UI"/>
              </a:rPr>
              <a:t>03 ·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A dataset of my own, not a download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8B949E"/>
                </a:solidFill>
                <a:latin typeface="Segoe UI"/>
              </a:rPr>
              <a:t>No pre-existing CSV: the universe, the features and the label are produced by the system itself.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10874959" cy="475488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4767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4EC9B0"/>
                </a:solidFill>
                <a:latin typeface="Segoe UI"/>
              </a:rPr>
              <a:t>Yahoo Finance · screener endpoint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6048" y="194767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D6DDE6"/>
                </a:solidFill>
                <a:latin typeface="Segoe UI"/>
              </a:rPr>
              <a:t>US small/mid-cap universe, $300M – $10B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55887" y="194767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E8B14A"/>
                </a:solidFill>
                <a:latin typeface="Segoe UI"/>
              </a:rPr>
              <a:t>2,305 tickers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95728"/>
            <a:ext cx="10874959" cy="475488"/>
          </a:xfrm>
          <a:prstGeom prst="roundRect">
            <a:avLst>
              <a:gd name="adj" fmla="val 6000"/>
            </a:avLst>
          </a:prstGeom>
          <a:solidFill>
            <a:srgbClr val="12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51460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4EC9B0"/>
                </a:solidFill>
                <a:latin typeface="Segoe UI"/>
              </a:rPr>
              <a:t>Yahoo Finance · yfinance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251460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D6DDE6"/>
                </a:solidFill>
                <a:latin typeface="Segoe UI"/>
              </a:rPr>
              <a:t>Financial statements and price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5887" y="25146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E8B14A"/>
                </a:solidFill>
                <a:latin typeface="Segoe UI"/>
              </a:rPr>
              <a:t>1,437 valued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962656"/>
            <a:ext cx="10874959" cy="475488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08152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4EC9B0"/>
                </a:solidFill>
                <a:latin typeface="Segoe UI"/>
              </a:rPr>
              <a:t>Own valuation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308152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D6DDE6"/>
                </a:solidFill>
                <a:latin typeface="Segoe UI"/>
              </a:rPr>
              <a:t>DCF · Excess Return · AFFO  → 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55887" y="308152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E8B14A"/>
                </a:solidFill>
                <a:latin typeface="Segoe UI"/>
              </a:rPr>
              <a:t>1,437 × 32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529584"/>
            <a:ext cx="10874959" cy="475488"/>
          </a:xfrm>
          <a:prstGeom prst="roundRect">
            <a:avLst>
              <a:gd name="adj" fmla="val 6000"/>
            </a:avLst>
          </a:prstGeom>
          <a:solidFill>
            <a:srgbClr val="12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648456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4EC9B0"/>
                </a:solidFill>
                <a:latin typeface="Segoe UI"/>
              </a:rPr>
              <a:t>Prices after the scan 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3648456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D6DDE6"/>
                </a:solidFill>
                <a:latin typeface="Segoe UI"/>
              </a:rPr>
              <a:t>Target variable  beats_market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5887" y="364845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E8B14A"/>
                </a:solidFill>
                <a:latin typeface="Segoe UI"/>
              </a:rPr>
              <a:t>1,421 labelled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343400"/>
            <a:ext cx="10874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 i="0">
                <a:solidFill>
                  <a:srgbClr val="E8B14A"/>
                </a:solidFill>
                <a:latin typeface="Segoe UI"/>
              </a:rPr>
              <a:t>Target · beats_market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 — did the stock beat the S&amp;P 500 between the scan date (2026-08-04) and the following close (2026-08-26, 18 sessions)?    Base rate: </a:t>
            </a:r>
            <a:r>
              <a:rPr sz="1500" b="1" i="0">
                <a:solidFill>
                  <a:srgbClr val="E8B14A"/>
                </a:solidFill>
                <a:latin typeface="Segoe UI"/>
              </a:rPr>
              <a:t>45.1%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 → nearly balanced classes.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623560"/>
            <a:ext cx="50292" cy="658368"/>
          </a:xfrm>
          <a:prstGeom prst="rect">
            <a:avLst/>
          </a:prstGeom>
          <a:solidFill>
            <a:srgbClr val="E8B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5605272"/>
            <a:ext cx="10600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D6DDE6"/>
                </a:solidFill>
                <a:latin typeface="Segoe UI"/>
              </a:rPr>
              <a:t>The hard part of collection was not finding data: Yahoo </a:t>
            </a:r>
            <a:r>
              <a:rPr sz="1500" b="1" i="0">
                <a:solidFill>
                  <a:srgbClr val="E8B14A"/>
                </a:solidFill>
                <a:latin typeface="Segoe UI"/>
              </a:rPr>
              <a:t>returns only 250 rows per query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 and caps pagination.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38251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Segoe U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4A535E"/>
                </a:solidFill>
                <a:latin typeface="Segoe UI"/>
              </a:rPr>
              <a:t>IVS · Institutional Valuation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4EC9B0"/>
                </a:solidFill>
                <a:latin typeface="Segoe UI"/>
              </a:rPr>
              <a:t>04 ·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Recursive partition of the universe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8B949E"/>
                </a:solidFill>
                <a:latin typeface="Segoe UI"/>
              </a:rPr>
              <a:t>Yahoo caps every query at 250 rows. The fix is to split the range, not the page.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2687" y="42062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4A535E"/>
                </a:solidFill>
                <a:latin typeface="Consolas"/>
              </a:rPr>
              <a:t>backend/universe_fetcher.py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0174" y="1609344"/>
            <a:ext cx="7351347" cy="386791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l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470" y="1691640"/>
            <a:ext cx="7186755" cy="3703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5623560"/>
            <a:ext cx="50292" cy="658368"/>
          </a:xfrm>
          <a:prstGeom prst="rect">
            <a:avLst/>
          </a:prstGeom>
          <a:solidFill>
            <a:srgbClr val="E8B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5605272"/>
            <a:ext cx="10600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D6DDE6"/>
                </a:solidFill>
                <a:latin typeface="Segoe UI"/>
              </a:rPr>
              <a:t>Split the market-cap range into bands and </a:t>
            </a:r>
            <a:r>
              <a:rPr sz="1500" b="1" i="0">
                <a:solidFill>
                  <a:srgbClr val="E8B14A"/>
                </a:solidFill>
                <a:latin typeface="Segoe UI"/>
              </a:rPr>
              <a:t>recursively subdivide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 any band that comes back full. The union of the leaf bands is the whole universe: </a:t>
            </a:r>
            <a:r>
              <a:rPr sz="1500" b="1" i="0">
                <a:solidFill>
                  <a:srgbClr val="E8B14A"/>
                </a:solidFill>
                <a:latin typeface="Segoe UI"/>
              </a:rPr>
              <a:t>2,305 tickers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38251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Segoe UI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4A535E"/>
                </a:solidFill>
                <a:latin typeface="Segoe UI"/>
              </a:rPr>
              <a:t>IVS · Institutional Valuation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4EC9B0"/>
                </a:solidFill>
                <a:latin typeface="Segoe UI"/>
              </a:rPr>
              <a:t>05 · PROBABILITY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Monte Carlo: 10,000 valuations instead of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8B949E"/>
                </a:solidFill>
                <a:latin typeface="Segoe UI"/>
              </a:rPr>
              <a:t>A single DCF gives one number. Sampling the assumptions gives a distribution.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2687" y="42062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4A535E"/>
                </a:solidFill>
                <a:latin typeface="Consolas"/>
              </a:rPr>
              <a:t>backend/montecarlo_engine.py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25224" y="1609344"/>
            <a:ext cx="6541246" cy="386791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ntecar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520" y="1691640"/>
            <a:ext cx="6376654" cy="3703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5623560"/>
            <a:ext cx="50292" cy="658368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5605272"/>
            <a:ext cx="10600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D6DDE6"/>
                </a:solidFill>
                <a:latin typeface="Segoe UI"/>
              </a:rPr>
              <a:t>Growth and the cost of money are drawn </a:t>
            </a:r>
            <a:r>
              <a:rPr sz="1500" b="1" i="0">
                <a:solidFill>
                  <a:srgbClr val="E8B14A"/>
                </a:solidFill>
                <a:latin typeface="Segoe UI"/>
              </a:rPr>
              <a:t>at random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 around my estimate, and the 10,000 valuations are computed </a:t>
            </a:r>
            <a:r>
              <a:rPr sz="1500" b="1" i="0">
                <a:solidFill>
                  <a:srgbClr val="E8B14A"/>
                </a:solidFill>
                <a:latin typeface="Segoe UI"/>
              </a:rPr>
              <a:t>all at once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 instead of one by one. The answer is a range, not a price.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38251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Segoe UI"/>
              </a:rP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4A535E"/>
                </a:solidFill>
                <a:latin typeface="Segoe UI"/>
              </a:rPr>
              <a:t>IVS · Institutional Valuation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4EC9B0"/>
                </a:solidFill>
                <a:latin typeface="Segoe UI"/>
              </a:rPr>
              <a:t>06 ·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Missing values: three strategies, not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8B949E"/>
                </a:solidFill>
                <a:latin typeface="Segoe UI"/>
              </a:rPr>
              <a:t>The choice does not depend on the column, it depends on WHY the value is missing.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2687" y="42062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4A535E"/>
                </a:solidFill>
                <a:latin typeface="Consolas"/>
              </a:rPr>
              <a:t>notebooks/02_Preparacion_y_Limpieza.ipynb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21745" y="1609344"/>
            <a:ext cx="7748204" cy="386791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i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041" y="1691640"/>
            <a:ext cx="7583612" cy="3703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5623560"/>
            <a:ext cx="50292" cy="658368"/>
          </a:xfrm>
          <a:prstGeom prst="rect">
            <a:avLst/>
          </a:prstGeom>
          <a:solidFill>
            <a:srgbClr val="E8B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5605272"/>
            <a:ext cx="10600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D6DDE6"/>
                </a:solidFill>
                <a:latin typeface="Segoe UI"/>
              </a:rPr>
              <a:t>Imputing beta with the </a:t>
            </a:r>
            <a:r>
              <a:rPr sz="1500" b="1" i="0">
                <a:solidFill>
                  <a:srgbClr val="E8B14A"/>
                </a:solidFill>
                <a:latin typeface="Segoe UI"/>
              </a:rPr>
              <a:t>global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 median would have put a utility's beta inside a biotech. That is why imputation is </a:t>
            </a:r>
            <a:r>
              <a:rPr sz="1500" b="1" i="0">
                <a:solidFill>
                  <a:srgbClr val="E8B14A"/>
                </a:solidFill>
                <a:latin typeface="Segoe UI"/>
              </a:rPr>
              <a:t>sector-wise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38251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Segoe UI"/>
              </a:rPr>
              <a:t>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4A535E"/>
                </a:solidFill>
                <a:latin typeface="Segoe UI"/>
              </a:rPr>
              <a:t>IVS · Institutional Valuation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4EC9B0"/>
                </a:solidFill>
                <a:latin typeface="Segoe UI"/>
              </a:rPr>
              <a:t>07 ·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Outliers: deleting them would be the classic mistake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8B949E"/>
                </a:solidFill>
                <a:latin typeface="Segoe UI"/>
              </a:rPr>
              <a:t>In stock returns the extremes are not noise — they are the phenomenon under study.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2687" y="42062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4A535E"/>
                </a:solidFill>
                <a:latin typeface="Consolas"/>
              </a:rPr>
              <a:t>notebooks/02_Preparacion_y_Limpieza.ipynb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9333" y="1609344"/>
            <a:ext cx="10353028" cy="386791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outl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629" y="1691640"/>
            <a:ext cx="10188436" cy="3703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5623560"/>
            <a:ext cx="50292" cy="658368"/>
          </a:xfrm>
          <a:prstGeom prst="rect">
            <a:avLst/>
          </a:prstGeom>
          <a:solidFill>
            <a:srgbClr val="E8B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5605272"/>
            <a:ext cx="10600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D6DDE6"/>
                </a:solidFill>
                <a:latin typeface="Segoe UI"/>
              </a:rPr>
              <a:t>I cut only what </a:t>
            </a:r>
            <a:r>
              <a:rPr sz="1500" b="1" i="0">
                <a:solidFill>
                  <a:srgbClr val="E8B14A"/>
                </a:solidFill>
                <a:latin typeface="Segoe UI"/>
              </a:rPr>
              <a:t>cannot exist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 — a margin of safety above 100 — and leave untouched what is </a:t>
            </a:r>
            <a:r>
              <a:rPr sz="1500" b="1" i="0">
                <a:solidFill>
                  <a:srgbClr val="E8B14A"/>
                </a:solidFill>
                <a:latin typeface="Segoe UI"/>
              </a:rPr>
              <a:t>rare but real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: the returns themselves.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38251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Segoe UI"/>
              </a:rP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4A535E"/>
                </a:solidFill>
                <a:latin typeface="Segoe UI"/>
              </a:rPr>
              <a:t>IVS · Institutional Valuation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4EC9B0"/>
                </a:solidFill>
                <a:latin typeface="Segoe UI"/>
              </a:rPr>
              <a:t>08 ·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New variables, and encoding with intent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8B949E"/>
                </a:solidFill>
                <a:latin typeface="Segoe UI"/>
              </a:rPr>
              <a:t>Two new features from domain knowledge, and two different encodings for two different kinds of category.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2687" y="42062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4A535E"/>
                </a:solidFill>
                <a:latin typeface="Consolas"/>
              </a:rPr>
              <a:t>notebooks/02_Preparacion_y_Limpieza.ipynb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41965" y="1609344"/>
            <a:ext cx="8307765" cy="386791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261" y="1691640"/>
            <a:ext cx="8143173" cy="3703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5623560"/>
            <a:ext cx="50292" cy="658368"/>
          </a:xfrm>
          <a:prstGeom prst="rect">
            <a:avLst/>
          </a:prstGeom>
          <a:solidFill>
            <a:srgbClr val="E8B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5605272"/>
            <a:ext cx="10600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 i="0">
                <a:solidFill>
                  <a:srgbClr val="E8B14A"/>
                </a:solidFill>
                <a:latin typeface="Segoe UI"/>
              </a:rPr>
              <a:t>Ordinal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 for the verdict, because SELL &lt; HOLD &lt; BUY is a real order. </a:t>
            </a:r>
            <a:r>
              <a:rPr sz="1500" b="1" i="0">
                <a:solidFill>
                  <a:srgbClr val="E8B14A"/>
                </a:solidFill>
                <a:latin typeface="Segoe UI"/>
              </a:rPr>
              <a:t>One-hot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 for sector, because an integer code would tell the model that 'Energy &gt; Technology', which means nothing.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38251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Segoe UI"/>
              </a:rPr>
              <a:t>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4A535E"/>
                </a:solidFill>
                <a:latin typeface="Segoe UI"/>
              </a:rPr>
              <a:t>IVS · Institutional Valuation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4EC9B0"/>
                </a:solidFill>
                <a:latin typeface="Segoe UI"/>
              </a:rPr>
              <a:t>09 · DATA LEAKAGE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The bug that would have given me 100%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8B949E"/>
                </a:solidFill>
                <a:latin typeface="Segoe UI"/>
              </a:rPr>
              <a:t>Seven columns are derived from the label. Feeding them back in is reading the answer off the exam paper.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2687" y="42062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4A535E"/>
                </a:solidFill>
                <a:latin typeface="Consolas"/>
              </a:rPr>
              <a:t>notebooks/02_Preparacion_y_Limpieza.ipynb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25630" y="1609344"/>
            <a:ext cx="9140435" cy="386791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926" y="1691640"/>
            <a:ext cx="8975843" cy="3703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5623560"/>
            <a:ext cx="50292" cy="658368"/>
          </a:xfrm>
          <a:prstGeom prst="rect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5605272"/>
            <a:ext cx="10600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D6DDE6"/>
                </a:solidFill>
                <a:latin typeface="Segoe UI"/>
              </a:rPr>
              <a:t>From 60+ columns down to </a:t>
            </a:r>
            <a:r>
              <a:rPr sz="1500" b="1" i="0">
                <a:solidFill>
                  <a:srgbClr val="E8B14A"/>
                </a:solidFill>
                <a:latin typeface="Segoe UI"/>
              </a:rPr>
              <a:t>32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: the seven that come from the answer are out, names and tickers are out, and so is any column where every company had the same value.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38251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Segoe UI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4A535E"/>
                </a:solidFill>
                <a:latin typeface="Segoe UI"/>
              </a:rPr>
              <a:t>IVS · Institutional Valuation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4EC9B0"/>
                </a:solidFill>
                <a:latin typeface="Segoe UI"/>
              </a:rPr>
              <a:t>10 ·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Hypothesis testing: picking the right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8B949E"/>
                </a:solidFill>
                <a:latin typeface="Segoe UI"/>
              </a:rPr>
              <a:t>Do the system's STRONG BUY and SELL/AVOID verdicts actually separate returns?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2687" y="42062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4A535E"/>
                </a:solidFill>
                <a:latin typeface="Consolas"/>
              </a:rPr>
              <a:t>notebooks/03_Analisis_Exploratorio_EDA.ipynb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76917" y="1609344"/>
            <a:ext cx="7237860" cy="386791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ypoth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213" y="1691640"/>
            <a:ext cx="7073268" cy="3703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5623560"/>
            <a:ext cx="50292" cy="658368"/>
          </a:xfrm>
          <a:prstGeom prst="rect">
            <a:avLst/>
          </a:prstGeom>
          <a:solidFill>
            <a:srgbClr val="E8B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5605272"/>
            <a:ext cx="10600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 i="0">
                <a:solidFill>
                  <a:srgbClr val="E8B14A"/>
                </a:solidFill>
                <a:latin typeface="Segoe UI"/>
              </a:rPr>
              <a:t>Mann-Whitney U, not the usual t-test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: a few enormous winners and losers pull returns around, so a test that assumes a bell curve would give me a number I could not trust.  Result: </a:t>
            </a:r>
            <a:r>
              <a:rPr sz="1500" b="1" i="0">
                <a:solidFill>
                  <a:srgbClr val="E8B14A"/>
                </a:solidFill>
                <a:latin typeface="Segoe UI"/>
              </a:rPr>
              <a:t>p = 0.0031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38251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Segoe UI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4A535E"/>
                </a:solidFill>
                <a:latin typeface="Segoe UI"/>
              </a:rPr>
              <a:t>IVS · Institutional Valuation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4EC9B0"/>
                </a:solidFill>
                <a:latin typeface="Segoe UI"/>
              </a:rPr>
              <a:t>11 · MODELLING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Three families, stratified cross-validation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8B949E"/>
                </a:solidFill>
                <a:latin typeface="Segoe UI"/>
              </a:rPr>
              <a:t>Three different sets of assumptions, so the conclusion does not rest on one arbitrary choice.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2687" y="42062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4A535E"/>
                </a:solidFill>
                <a:latin typeface="Consolas"/>
              </a:rPr>
              <a:t>notebooks/04_Machine_Learning.ipynb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38405" y="1609344"/>
            <a:ext cx="9114885" cy="386791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del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701" y="1691640"/>
            <a:ext cx="8950293" cy="3703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5623560"/>
            <a:ext cx="50292" cy="658368"/>
          </a:xfrm>
          <a:prstGeom prst="rect">
            <a:avLst/>
          </a:prstGeom>
          <a:solidFill>
            <a:srgbClr val="E8B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5605272"/>
            <a:ext cx="10600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D6DDE6"/>
                </a:solidFill>
                <a:latin typeface="Segoe UI"/>
              </a:rPr>
              <a:t>The scaling step goes </a:t>
            </a:r>
            <a:r>
              <a:rPr sz="1500" b="1" i="0">
                <a:solidFill>
                  <a:srgbClr val="E8B14A"/>
                </a:solidFill>
                <a:latin typeface="Segoe UI"/>
              </a:rPr>
              <a:t>inside the Pipeline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: doing it first would let the test data help set the scale, and that is cheating. And every split keeps the same 45/55 mix of winners and losers.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38251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Segoe UI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4A535E"/>
                </a:solidFill>
                <a:latin typeface="Segoe UI"/>
              </a:rPr>
              <a:t>IVS · Institutional Valuation System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4EC9B0"/>
                </a:solidFill>
                <a:latin typeface="Segoe UI"/>
              </a:rPr>
              <a:t>12 · 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GridSearchCV, and why ROC-AUC is the 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8B949E"/>
                </a:solidFill>
                <a:latin typeface="Segoe UI"/>
              </a:rPr>
              <a:t>Accuracy would reward a model that just predicts the majority class.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2687" y="42062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4A535E"/>
                </a:solidFill>
                <a:latin typeface="Consolas"/>
              </a:rPr>
              <a:t>notebooks/04_Machine_Learning.ipynb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95951" y="1609344"/>
            <a:ext cx="4799793" cy="386791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rid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247" y="1691640"/>
            <a:ext cx="4635201" cy="3703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5623560"/>
            <a:ext cx="50292" cy="658368"/>
          </a:xfrm>
          <a:prstGeom prst="rect">
            <a:avLst/>
          </a:prstGeom>
          <a:solidFill>
            <a:srgbClr val="E8B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5605272"/>
            <a:ext cx="10600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 i="0">
                <a:solidFill>
                  <a:srgbClr val="E8B14A"/>
                </a:solidFill>
                <a:latin typeface="Segoe UI"/>
              </a:rPr>
              <a:t>ROC-AUC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 does not depend on where I draw the buy / don't-buy line: it asks whether the ORDER is better than chance. The test data is used once, on the last 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38251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Segoe UI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4A535E"/>
                </a:solidFill>
                <a:latin typeface="Segoe UI"/>
              </a:rPr>
              <a:t>IVS · Institutional Valuation System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4EC9B0"/>
                </a:solidFill>
                <a:latin typeface="Segoe UI"/>
              </a:rPr>
              <a:t>13 ·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AUC 0.71 — and it ranks by return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8B949E"/>
                </a:solidFill>
                <a:latin typeface="Segoe UI"/>
              </a:rPr>
              <a:t>Held-out test set, 285 companies the model never saw during training or tuning.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" y="2059484"/>
            <a:ext cx="5464911" cy="273903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dels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41780"/>
            <a:ext cx="5300319" cy="2574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50711" y="1652340"/>
            <a:ext cx="5464911" cy="35533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quintiles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734636"/>
            <a:ext cx="5300319" cy="338872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5623560"/>
            <a:ext cx="50292" cy="658368"/>
          </a:xfrm>
          <a:prstGeom prst="rect">
            <a:avLst/>
          </a:prstGeom>
          <a:solidFill>
            <a:srgbClr val="E8B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5605272"/>
            <a:ext cx="10600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D6DDE6"/>
                </a:solidFill>
                <a:latin typeface="Segoe UI"/>
              </a:rPr>
              <a:t>The order holds all the way down: the bottom group lost </a:t>
            </a:r>
            <a:r>
              <a:rPr sz="1500" b="1" i="0">
                <a:solidFill>
                  <a:srgbClr val="E8B14A"/>
                </a:solidFill>
                <a:latin typeface="Segoe UI"/>
              </a:rPr>
              <a:t>−3.7%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 against the index and the top one gained </a:t>
            </a:r>
            <a:r>
              <a:rPr sz="1500" b="1" i="0">
                <a:solidFill>
                  <a:srgbClr val="E8B14A"/>
                </a:solidFill>
                <a:latin typeface="Segoe UI"/>
              </a:rPr>
              <a:t>+1.9%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 — a gap of </a:t>
            </a:r>
            <a:r>
              <a:rPr sz="1500" b="1" i="0">
                <a:solidFill>
                  <a:srgbClr val="E8B14A"/>
                </a:solidFill>
                <a:latin typeface="Segoe UI"/>
              </a:rPr>
              <a:t>5.64 points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 between the companies the model liked least and most.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38251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Segoe UI"/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4A535E"/>
                </a:solidFill>
                <a:latin typeface="Segoe UI"/>
              </a:rPr>
              <a:t>IVS · Institutional Valuation System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4EC9B0"/>
                </a:solidFill>
                <a:latin typeface="Segoe UI"/>
              </a:rPr>
              <a:t>14 · THE BIGGEST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Where the signal actually comes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8B949E"/>
                </a:solidFill>
                <a:latin typeface="Segoe UI"/>
              </a:rPr>
              <a:t>I retrained the same model on one block of features at a time, to see which block was carrying the score.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" y="1683802"/>
            <a:ext cx="6473952" cy="3499539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blation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66098"/>
            <a:ext cx="6309360" cy="333494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96328" y="1691640"/>
            <a:ext cx="4336999" cy="14173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96328" y="1691640"/>
            <a:ext cx="4336999" cy="54864"/>
          </a:xfrm>
          <a:prstGeom prst="roundRect">
            <a:avLst>
              <a:gd name="adj" fmla="val 6000"/>
            </a:avLst>
          </a:prstGeom>
          <a:solidFill>
            <a:srgbClr val="E8B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1938528"/>
            <a:ext cx="38249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1" i="0">
                <a:solidFill>
                  <a:srgbClr val="E8B14A"/>
                </a:solidFill>
                <a:latin typeface="Segoe UI"/>
              </a:rPr>
              <a:t>Valuation only: 0.578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D6DDE6"/>
                </a:solidFill>
                <a:latin typeface="Segoe UI"/>
              </a:rPr>
              <a:t>The DCF thesis — margin of safety, confidence, upside, verdict — barely beats a coin flip.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96328" y="3291840"/>
            <a:ext cx="4336999" cy="14173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96328" y="3291840"/>
            <a:ext cx="4336999" cy="54864"/>
          </a:xfrm>
          <a:prstGeom prst="roundRect">
            <a:avLst>
              <a:gd name="adj" fmla="val 6000"/>
            </a:avLst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3538728"/>
            <a:ext cx="38249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1" i="0">
                <a:solidFill>
                  <a:srgbClr val="E8B14A"/>
                </a:solidFill>
                <a:latin typeface="Segoe UI"/>
              </a:rPr>
              <a:t>Sector &amp; model only: 0.620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D6DDE6"/>
                </a:solidFill>
                <a:latin typeface="Segoe UI"/>
              </a:rPr>
              <a:t>15 dummy variables carrying no valuation information beat the entire thesis.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623560"/>
            <a:ext cx="50292" cy="658368"/>
          </a:xfrm>
          <a:prstGeom prst="rect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5605272"/>
            <a:ext cx="10600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D6DDE6"/>
                </a:solidFill>
                <a:latin typeface="Segoe UI"/>
              </a:rPr>
              <a:t>Most of the 0.688 comes from </a:t>
            </a:r>
            <a:r>
              <a:rPr sz="1500" b="1" i="0">
                <a:solidFill>
                  <a:srgbClr val="E8B14A"/>
                </a:solidFill>
                <a:latin typeface="Segoe UI"/>
              </a:rPr>
              <a:t>sector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, not from valuation. So I use the score to rank candidates, and I do not present it as evidence of valuation skill.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38251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Segoe UI"/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4A535E"/>
                </a:solidFill>
                <a:latin typeface="Segoe UI"/>
              </a:rPr>
              <a:t>IVS · Institutional Valuation System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4EC9B0"/>
                </a:solidFill>
                <a:latin typeface="Segoe UI"/>
              </a:rPr>
              <a:t>15 · GEN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RAG over the theses the system writes itself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8B949E"/>
                </a:solidFill>
                <a:latin typeface="Segoe UI"/>
              </a:rPr>
              <a:t>70 reports written by the valuation engine — 35 factsheets and 35 investment theses on 35 companies — cut into 552 searchable pieces.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2687" y="42062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4A535E"/>
                </a:solidFill>
                <a:latin typeface="Consolas"/>
              </a:rPr>
              <a:t>notebooks/05_Gen_AI_Asistente.ipynb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9926" y="1609344"/>
            <a:ext cx="6871843" cy="386791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222" y="1691640"/>
            <a:ext cx="6707251" cy="3703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5623560"/>
            <a:ext cx="50292" cy="658368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5605272"/>
            <a:ext cx="10600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D6DDE6"/>
                </a:solidFill>
                <a:latin typeface="Segoe UI"/>
              </a:rPr>
              <a:t>A question is matched to the pieces that </a:t>
            </a:r>
            <a:r>
              <a:rPr sz="1500" b="1" i="0">
                <a:solidFill>
                  <a:srgbClr val="E8B14A"/>
                </a:solidFill>
                <a:latin typeface="Segoe UI"/>
              </a:rPr>
              <a:t>share the most words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 with it, keeping pairs of words together so 'margen de seguridad' stays one idea. The top hit came from the right company </a:t>
            </a:r>
            <a:r>
              <a:rPr sz="1500" b="1" i="0">
                <a:solidFill>
                  <a:srgbClr val="E8B14A"/>
                </a:solidFill>
                <a:latin typeface="Segoe UI"/>
              </a:rPr>
              <a:t>36 times out of 36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 — an easy test, because the ticker is almost a unique word.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38251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Segoe UI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4A535E"/>
                </a:solidFill>
                <a:latin typeface="Segoe UI"/>
              </a:rPr>
              <a:t>IVS · Institutional Valuation System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4EC9B0"/>
                </a:solidFill>
                <a:latin typeface="Segoe UI"/>
              </a:rPr>
              <a:t>16 ·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It is not a notebook: it is an app I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8B949E"/>
                </a:solidFill>
                <a:latin typeface="Segoe UI"/>
              </a:rPr>
              <a:t>FastAPI + React. 28 REST endpoints, 23 React components, live prices from yfinance.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" y="1743808"/>
            <a:ext cx="11039551" cy="3681279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ortfolio_pos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26104"/>
            <a:ext cx="10874959" cy="351668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5623560"/>
            <a:ext cx="50292" cy="658368"/>
          </a:xfrm>
          <a:prstGeom prst="rect">
            <a:avLst/>
          </a:prstGeom>
          <a:solidFill>
            <a:srgbClr val="6FC2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5605272"/>
            <a:ext cx="10600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D6DDE6"/>
                </a:solidFill>
                <a:latin typeface="Segoe UI"/>
              </a:rPr>
              <a:t>Real portfolio, €100,000 of initial capital, 11 positions sized by the system's own margin-of-safety ranking. </a:t>
            </a:r>
            <a:r>
              <a:rPr sz="1500" b="1" i="0">
                <a:solidFill>
                  <a:srgbClr val="E8B14A"/>
                </a:solidFill>
                <a:latin typeface="Segoe UI"/>
              </a:rPr>
              <a:t>€131.5K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 today, </a:t>
            </a:r>
            <a:r>
              <a:rPr sz="1500" b="1" i="0">
                <a:solidFill>
                  <a:srgbClr val="E8B14A"/>
                </a:solidFill>
                <a:latin typeface="Segoe UI"/>
              </a:rPr>
              <a:t>+31.5%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38251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Segoe U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4A535E"/>
                </a:solidFill>
                <a:latin typeface="Segoe UI"/>
              </a:rPr>
              <a:t>IVS · Institutional Valuation System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4EC9B0"/>
                </a:solidFill>
                <a:latin typeface="Segoe UI"/>
              </a:rPr>
              <a:t>17 · THE SCREENER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The whole universe, ranked every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8B949E"/>
                </a:solidFill>
                <a:latin typeface="Segoe UI"/>
              </a:rPr>
              <a:t>Best and worst over the last five market sessions, across 2,286 of the 2,305 companies. Last computed 2026-08-27.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4359" y="1581912"/>
            <a:ext cx="10742977" cy="400507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eekly_mo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655" y="1664208"/>
            <a:ext cx="10578385" cy="38404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5623560"/>
            <a:ext cx="50292" cy="658368"/>
          </a:xfrm>
          <a:prstGeom prst="rect">
            <a:avLst/>
          </a:prstGeom>
          <a:solidFill>
            <a:srgbClr val="E8B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5605272"/>
            <a:ext cx="10600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D6DDE6"/>
                </a:solidFill>
                <a:latin typeface="Segoe UI"/>
              </a:rPr>
              <a:t>A background job walks the full universe in batches of 150. And "week" means </a:t>
            </a:r>
            <a:r>
              <a:rPr sz="1500" b="1" i="0">
                <a:solidFill>
                  <a:srgbClr val="E8B14A"/>
                </a:solidFill>
                <a:latin typeface="Segoe UI"/>
              </a:rPr>
              <a:t>five market sessions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, not seven calendar days — so a public holiday cannot fake the window.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38251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Segoe U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4A535E"/>
                </a:solidFill>
                <a:latin typeface="Segoe UI"/>
              </a:rPr>
              <a:t>IVS · Institutional Valuation System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4EC9B0"/>
                </a:solidFill>
                <a:latin typeface="Segoe UI"/>
              </a:rPr>
              <a:t>18 · RISK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Diversification, measured rather than assumed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8B949E"/>
                </a:solidFill>
                <a:latin typeface="Segoe UI"/>
              </a:rPr>
              <a:t>Pearson correlation over 500 sessions, and a per-session returns heatmap.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" y="1609344"/>
            <a:ext cx="5464911" cy="3409014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91640"/>
            <a:ext cx="5300319" cy="324442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50711" y="1609344"/>
            <a:ext cx="5464911" cy="2033359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ily_retur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691640"/>
            <a:ext cx="5300319" cy="186876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5623560"/>
            <a:ext cx="50292" cy="658368"/>
          </a:xfrm>
          <a:prstGeom prst="rect">
            <a:avLst/>
          </a:prstGeom>
          <a:solidFill>
            <a:srgbClr val="E8B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5605272"/>
            <a:ext cx="10600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D6DDE6"/>
                </a:solidFill>
                <a:latin typeface="Segoe UI"/>
              </a:rPr>
              <a:t>Highest pair is </a:t>
            </a:r>
            <a:r>
              <a:rPr sz="1500" b="1" i="0">
                <a:solidFill>
                  <a:srgbClr val="E8B14A"/>
                </a:solidFill>
                <a:latin typeface="Segoe UI"/>
              </a:rPr>
              <a:t>0.49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 (DBX–DOCU, both software) and the alert threshold is 0.75: no hidden concentration. Eleven names that genuinely move apart.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38251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Segoe UI"/>
              </a:rP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4A535E"/>
                </a:solidFill>
                <a:latin typeface="Segoe UI"/>
              </a:rPr>
              <a:t>IVS · Institutional Valuation System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4EC9B0"/>
                </a:solidFill>
                <a:latin typeface="Segoe UI"/>
              </a:rPr>
              <a:t>19 · VERSUS THE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Portfolio against the S&amp;P 500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8B949E"/>
                </a:solidFill>
                <a:latin typeface="Segoe UI"/>
              </a:rPr>
              <a:t>Both rebased to 100,000 on the first session, 2026-07-28 to today.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" y="2179908"/>
            <a:ext cx="11039551" cy="2589624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s_sp5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62204"/>
            <a:ext cx="10874959" cy="242503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5623560"/>
            <a:ext cx="50292" cy="658368"/>
          </a:xfrm>
          <a:prstGeom prst="rect">
            <a:avLst/>
          </a:prstGeom>
          <a:solidFill>
            <a:srgbClr val="6FC2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5605272"/>
            <a:ext cx="10600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D6DDE6"/>
                </a:solidFill>
                <a:latin typeface="Segoe UI"/>
              </a:rPr>
              <a:t>Portfolio </a:t>
            </a:r>
            <a:r>
              <a:rPr sz="1500" b="1" i="0">
                <a:solidFill>
                  <a:srgbClr val="E8B14A"/>
                </a:solidFill>
                <a:latin typeface="Segoe UI"/>
              </a:rPr>
              <a:t>+31.48%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 versus SPY </a:t>
            </a:r>
            <a:r>
              <a:rPr sz="1500" b="1" i="0">
                <a:solidFill>
                  <a:srgbClr val="E8B14A"/>
                </a:solidFill>
                <a:latin typeface="Segoe UI"/>
              </a:rPr>
              <a:t>+3.16%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 — </a:t>
            </a:r>
            <a:r>
              <a:rPr sz="1500" b="1" i="0">
                <a:solidFill>
                  <a:srgbClr val="E8B14A"/>
                </a:solidFill>
                <a:latin typeface="Segoe UI"/>
              </a:rPr>
              <a:t>+28.32 points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 over 33 sessions. A track record, not a proof: 33 sessions and 11 names.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38251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Segoe UI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4A535E"/>
                </a:solidFill>
                <a:latin typeface="Segoe UI"/>
              </a:rPr>
              <a:t>IVS · Institutional Valuation System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4EC9B0"/>
                </a:solidFill>
                <a:latin typeface="Segoe UI"/>
              </a:rPr>
              <a:t>20 · TIME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Any past session, reconstructed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8B949E"/>
                </a:solidFill>
                <a:latin typeface="Segoe UI"/>
              </a:rPr>
              <a:t>A slider that walks trading sessions — not calendar days, so it never lands on a weekend.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4439" y="1609344"/>
            <a:ext cx="10542817" cy="386791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ime_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735" y="1691640"/>
            <a:ext cx="10378225" cy="37033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5623560"/>
            <a:ext cx="50292" cy="658368"/>
          </a:xfrm>
          <a:prstGeom prst="rect">
            <a:avLst/>
          </a:prstGeom>
          <a:solidFill>
            <a:srgbClr val="E8B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5605272"/>
            <a:ext cx="10600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D6DDE6"/>
                </a:solidFill>
                <a:latin typeface="Segoe UI"/>
              </a:rPr>
              <a:t>Reconstructed from real closing prices, and the panel states its own limit: the database is not a trade ledger, so it answers </a:t>
            </a:r>
            <a:r>
              <a:rPr sz="1500" b="1" i="0">
                <a:solidFill>
                  <a:srgbClr val="E8B14A"/>
                </a:solidFill>
                <a:latin typeface="Segoe UI"/>
              </a:rPr>
              <a:t>'what was today's portfolio worth then'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, not 'what did I hold that day'.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38251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Segoe UI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4A535E"/>
                </a:solidFill>
                <a:latin typeface="Segoe UI"/>
              </a:rPr>
              <a:t>IVS · Institutional Valuation System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4EC9B0"/>
                </a:solidFill>
                <a:latin typeface="Segoe UI"/>
              </a:rPr>
              <a:t>21 · WHAT I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Where the measurement is thin, and what I would build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8B949E"/>
                </a:solidFill>
                <a:latin typeface="Segoe UI"/>
              </a:rPr>
              <a:t>The three things I would fix first if I kept working on this.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55648"/>
            <a:ext cx="5300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E06C75"/>
                </a:solidFill>
                <a:latin typeface="Segoe UI"/>
              </a:rPr>
              <a:t>LIMITS OF WHAT I MEASURED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39696"/>
            <a:ext cx="5300319" cy="89611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139696"/>
            <a:ext cx="41148" cy="896112"/>
          </a:xfrm>
          <a:prstGeom prst="roundRect">
            <a:avLst>
              <a:gd name="adj" fmla="val 6000"/>
            </a:avLst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258568"/>
            <a:ext cx="491627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D6DDE6"/>
                </a:solidFill>
                <a:latin typeface="Segoe UI"/>
              </a:rPr>
              <a:t>One window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551176"/>
            <a:ext cx="491627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B949E"/>
                </a:solidFill>
                <a:latin typeface="Segoe UI"/>
              </a:rPr>
              <a:t>Features from a single scan date and an 18-session label. No walk-forward across multiple periods.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163824"/>
            <a:ext cx="5300319" cy="89611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3163824"/>
            <a:ext cx="41148" cy="896112"/>
          </a:xfrm>
          <a:prstGeom prst="roundRect">
            <a:avLst>
              <a:gd name="adj" fmla="val 6000"/>
            </a:avLst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282696"/>
            <a:ext cx="491627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D6DDE6"/>
                </a:solidFill>
                <a:latin typeface="Segoe UI"/>
              </a:rPr>
              <a:t>Survivorship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575304"/>
            <a:ext cx="491627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B949E"/>
                </a:solidFill>
                <a:latin typeface="Segoe UI"/>
              </a:rPr>
              <a:t>The universe is today's screener output: companies already delisted are not in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187952"/>
            <a:ext cx="5300319" cy="89611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187952"/>
            <a:ext cx="41148" cy="896112"/>
          </a:xfrm>
          <a:prstGeom prst="roundRect">
            <a:avLst>
              <a:gd name="adj" fmla="val 6000"/>
            </a:avLst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4306824"/>
            <a:ext cx="491627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D6DDE6"/>
                </a:solidFill>
                <a:latin typeface="Segoe UI"/>
              </a:rPr>
              <a:t>Sector dominates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599432"/>
            <a:ext cx="491627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B949E"/>
                </a:solidFill>
                <a:latin typeface="Segoe UI"/>
              </a:rPr>
              <a:t>The ablation showed it, so returns would have to be measured against sector peers.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1755648"/>
            <a:ext cx="5300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4EC9B0"/>
                </a:solidFill>
                <a:latin typeface="Segoe UI"/>
              </a:rPr>
              <a:t>WHAT I WOULD DO 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2139696"/>
            <a:ext cx="5300319" cy="89611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33007" y="2139696"/>
            <a:ext cx="41148" cy="896112"/>
          </a:xfrm>
          <a:prstGeom prst="roundRect">
            <a:avLst>
              <a:gd name="adj" fmla="val 6000"/>
            </a:avLst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4175" y="2258568"/>
            <a:ext cx="491627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D6DDE6"/>
                </a:solidFill>
                <a:latin typeface="Segoe UI"/>
              </a:rPr>
              <a:t>Walk-forward 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4175" y="2551176"/>
            <a:ext cx="491627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B949E"/>
                </a:solidFill>
                <a:latin typeface="Segoe UI"/>
              </a:rPr>
              <a:t>Repeat the whole label pipeline across many scan dates and pool the results.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3007" y="3163824"/>
            <a:ext cx="5300319" cy="89611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33007" y="3163824"/>
            <a:ext cx="41148" cy="896112"/>
          </a:xfrm>
          <a:prstGeom prst="roundRect">
            <a:avLst>
              <a:gd name="adj" fmla="val 6000"/>
            </a:avLst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4175" y="3282696"/>
            <a:ext cx="491627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D6DDE6"/>
                </a:solidFill>
                <a:latin typeface="Segoe UI"/>
              </a:rPr>
              <a:t>Sector-relative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4175" y="3575304"/>
            <a:ext cx="491627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B949E"/>
                </a:solidFill>
                <a:latin typeface="Segoe UI"/>
              </a:rPr>
              <a:t>Predict excess return versus sector peers, not versus the index — that is the clustering lesson applied.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7" y="4187952"/>
            <a:ext cx="5300319" cy="89611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33007" y="4187952"/>
            <a:ext cx="41148" cy="896112"/>
          </a:xfrm>
          <a:prstGeom prst="roundRect">
            <a:avLst>
              <a:gd name="adj" fmla="val 6000"/>
            </a:avLst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4175" y="4306824"/>
            <a:ext cx="491627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D6DDE6"/>
                </a:solidFill>
                <a:latin typeface="Segoe UI"/>
              </a:rPr>
              <a:t>Close the MLOps loop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4175" y="4599432"/>
            <a:ext cx="491627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B949E"/>
                </a:solidFill>
                <a:latin typeface="Segoe UI"/>
              </a:rPr>
              <a:t>The model is trained in a notebook; it should be served by the same API the app already talks to.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623560"/>
            <a:ext cx="50292" cy="658368"/>
          </a:xfrm>
          <a:prstGeom prst="rect">
            <a:avLst/>
          </a:prstGeom>
          <a:solidFill>
            <a:srgbClr val="E8B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5605272"/>
            <a:ext cx="10600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D6DDE6"/>
                </a:solidFill>
                <a:latin typeface="Segoe UI"/>
              </a:rPr>
              <a:t>The system is in production and every notebook re-runs end to end. The signal I found is mostly sector, so the honest use of the score today is </a:t>
            </a:r>
            <a:r>
              <a:rPr sz="1500" b="1" i="0">
                <a:solidFill>
                  <a:srgbClr val="E8B14A"/>
                </a:solidFill>
                <a:latin typeface="Segoe UI"/>
              </a:rPr>
              <a:t>ranking candidates</a:t>
            </a:r>
            <a:r>
              <a:rPr sz="1500" b="0" i="0">
                <a:solidFill>
                  <a:srgbClr val="D6DDE6"/>
                </a:solidFill>
                <a:latin typeface="Segoe UI"/>
              </a:rPr>
              <a:t>, not claiming an edge.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11535" y="638251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Segoe UI"/>
              </a:rPr>
              <a:t>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4A535E"/>
                </a:solidFill>
                <a:latin typeface="Segoe UI"/>
              </a:rPr>
              <a:t>IVS · Institutional Valuation System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82296" cy="6858000"/>
          </a:xfrm>
          <a:prstGeom prst="roundRect">
            <a:avLst>
              <a:gd name="adj" fmla="val 6000"/>
            </a:avLst>
          </a:prstGeom>
          <a:solidFill>
            <a:srgbClr val="E8B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28600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4EC9B0"/>
                </a:solidFill>
                <a:latin typeface="Segoe UI"/>
              </a:rPr>
              <a:t>Institutional Valuation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889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200" b="1" i="0">
                <a:solidFill>
                  <a:srgbClr val="FFFFFF"/>
                </a:solidFill>
                <a:latin typeface="Segoe UI"/>
              </a:rPr>
              <a:t>Thank you. 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206240"/>
            <a:ext cx="201039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E8B14A"/>
                </a:solidFill>
                <a:latin typeface="Segoe U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636008"/>
            <a:ext cx="201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8B949E"/>
                </a:solidFill>
                <a:latin typeface="Segoe UI"/>
              </a:rPr>
              <a:t>Python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74507" y="4206240"/>
            <a:ext cx="201039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E8B14A"/>
                </a:solidFill>
                <a:latin typeface="Segoe UI"/>
              </a:rPr>
              <a:t>8,487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74507" y="4636008"/>
            <a:ext cx="201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8B949E"/>
                </a:solidFill>
                <a:latin typeface="Segoe UI"/>
              </a:rPr>
              <a:t>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0647" y="4206240"/>
            <a:ext cx="201039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E8B14A"/>
                </a:solidFill>
                <a:latin typeface="Segoe UI"/>
              </a:rPr>
              <a:t>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0647" y="4636008"/>
            <a:ext cx="201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8B949E"/>
                </a:solidFill>
                <a:latin typeface="Segoe UI"/>
              </a:rPr>
              <a:t>REST endpoints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6787" y="4206240"/>
            <a:ext cx="201039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E8B14A"/>
                </a:solidFill>
                <a:latin typeface="Segoe UI"/>
              </a:rPr>
              <a:t>2,305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6787" y="4636008"/>
            <a:ext cx="201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8B949E"/>
                </a:solidFill>
                <a:latin typeface="Segoe UI"/>
              </a:rPr>
              <a:t>universe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2927" y="4206240"/>
            <a:ext cx="201039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500" b="1" i="0">
                <a:solidFill>
                  <a:srgbClr val="E8B14A"/>
                </a:solidFill>
                <a:latin typeface="Segoe UI"/>
              </a:rPr>
              <a:t>1,437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2927" y="4636008"/>
            <a:ext cx="2010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8B949E"/>
                </a:solidFill>
                <a:latin typeface="Segoe UI"/>
              </a:rPr>
              <a:t>companies valued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38251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8B949E"/>
                </a:solidFill>
                <a:latin typeface="Segoe UI"/>
              </a:rPr>
              <a:t>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4A535E"/>
                </a:solidFill>
                <a:latin typeface="Segoe UI"/>
              </a:rPr>
              <a:t>IVS · Institutional Valuation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